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notesSlides/notesSlide15.xml" ContentType="application/vnd.openxmlformats-officedocument.presentationml.notesSlide+xml"/>
  <Override PartName="/ppt/charts/chart10.xml" ContentType="application/vnd.openxmlformats-officedocument.drawingml.chart+xml"/>
  <Override PartName="/ppt/notesSlides/notesSlide16.xml" ContentType="application/vnd.openxmlformats-officedocument.presentationml.notesSlide+xml"/>
  <Override PartName="/ppt/charts/chart1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000000"/>
                </a:solidFill>
                <a:latin typeface="Calibri"/>
              </a:rPr>
              <a:t>NULLs per customer field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NULL count (of 59 customers)</c:v>
                </c:pt>
              </c:strCache>
            </c:strRef>
          </c:tx>
          <c:spPr>
            <a:solidFill>
              <a:srgbClr val="1B1F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Company</c:v>
                </c:pt>
                <c:pt idx="1">
                  <c:v>State</c:v>
                </c:pt>
                <c:pt idx="2">
                  <c:v>Fax</c:v>
                </c:pt>
                <c:pt idx="3">
                  <c:v>Postal Code</c:v>
                </c:pt>
                <c:pt idx="4">
                  <c:v>Phone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</c:v>
                </c:pt>
                <c:pt idx="1">
                  <c:v>29</c:v>
                </c:pt>
                <c:pt idx="2">
                  <c:v>47</c:v>
                </c:pt>
                <c:pt idx="3">
                  <c:v>4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AF-4258-9B5C-10D641399B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\$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War Pigs</c:v>
                </c:pt>
                <c:pt idx="1">
                  <c:v>You Know I'm No Good…</c:v>
                </c:pt>
                <c:pt idx="2">
                  <c:v>Night Of The Long Kn…</c:v>
                </c:pt>
                <c:pt idx="3">
                  <c:v>Evil Woman</c:v>
                </c:pt>
                <c:pt idx="4">
                  <c:v>Highway Chile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5.94</c:v>
                </c:pt>
                <c:pt idx="1">
                  <c:v>4.95</c:v>
                </c:pt>
                <c:pt idx="2">
                  <c:v>3.96</c:v>
                </c:pt>
                <c:pt idx="3">
                  <c:v>3.96</c:v>
                </c:pt>
                <c:pt idx="4">
                  <c:v>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F3-4D84-A9F6-F02D7D762D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\$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of USA 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1F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FE7-4121-BCF2-B52D17AF5B82}"/>
              </c:ext>
            </c:extLst>
          </c:dPt>
          <c:dPt>
            <c:idx val="1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FE7-4121-BCF2-B52D17AF5B82}"/>
              </c:ext>
            </c:extLst>
          </c:dPt>
          <c:dPt>
            <c:idx val="2"/>
            <c:bubble3D val="0"/>
            <c:spPr>
              <a:solidFill>
                <a:srgbClr val="5F6C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FE7-4121-BCF2-B52D17AF5B82}"/>
              </c:ext>
            </c:extLst>
          </c:dPt>
          <c:dPt>
            <c:idx val="3"/>
            <c:bubble3D val="0"/>
            <c:spPr>
              <a:solidFill>
                <a:srgbClr val="8FA0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FE7-4121-BCF2-B52D17AF5B82}"/>
              </c:ext>
            </c:extLst>
          </c:dPt>
          <c:dPt>
            <c:idx val="4"/>
            <c:bubble3D val="0"/>
            <c:spPr>
              <a:solidFill>
                <a:srgbClr val="C9B3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FE7-4121-BCF2-B52D17AF5B82}"/>
              </c:ext>
            </c:extLst>
          </c:dPt>
          <c:dPt>
            <c:idx val="5"/>
            <c:bubble3D val="0"/>
            <c:spPr>
              <a:solidFill>
                <a:srgbClr val="AEB4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FE7-4121-BCF2-B52D17AF5B82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FE7-4121-BCF2-B52D17AF5B82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FE7-4121-BCF2-B52D17AF5B82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FE7-4121-BCF2-B52D17AF5B82}"/>
                </c:ext>
              </c:extLst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FE7-4121-BCF2-B52D17AF5B82}"/>
                </c:ext>
              </c:extLst>
            </c:dLbl>
            <c:dLbl>
              <c:idx val="4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FE7-4121-BCF2-B52D17AF5B82}"/>
                </c:ext>
              </c:extLst>
            </c:dLbl>
            <c:dLbl>
              <c:idx val="5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FE7-4121-BCF2-B52D17AF5B82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Rock</c:v>
                </c:pt>
                <c:pt idx="1">
                  <c:v>Alternative &amp; Punk</c:v>
                </c:pt>
                <c:pt idx="2">
                  <c:v>Metal</c:v>
                </c:pt>
                <c:pt idx="3">
                  <c:v>R&amp;B/Soul</c:v>
                </c:pt>
                <c:pt idx="4">
                  <c:v>Blues</c:v>
                </c:pt>
                <c:pt idx="5">
                  <c:v>Alternative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53.4</c:v>
                </c:pt>
                <c:pt idx="1">
                  <c:v>12.4</c:v>
                </c:pt>
                <c:pt idx="2">
                  <c:v>11.8</c:v>
                </c:pt>
                <c:pt idx="3">
                  <c:v>5</c:v>
                </c:pt>
                <c:pt idx="4">
                  <c:v>3.4</c:v>
                </c:pt>
                <c:pt idx="5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FE7-4121-BCF2-B52D17AF5B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</a:rPr>
              <a:t>Customers by country (top 6)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B1F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USA</c:v>
                </c:pt>
                <c:pt idx="1">
                  <c:v>Canada</c:v>
                </c:pt>
                <c:pt idx="2">
                  <c:v>France</c:v>
                </c:pt>
                <c:pt idx="3">
                  <c:v>Brazil</c:v>
                </c:pt>
                <c:pt idx="4">
                  <c:v>Germany</c:v>
                </c:pt>
                <c:pt idx="5">
                  <c:v>United Kingdom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</c:v>
                </c:pt>
                <c:pt idx="1">
                  <c:v>8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C4-44AA-9962-5154E937C4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</a:rPr>
              <a:t>Revenue by country (top 6)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USA</c:v>
                </c:pt>
                <c:pt idx="1">
                  <c:v>Canada</c:v>
                </c:pt>
                <c:pt idx="2">
                  <c:v>Brazil</c:v>
                </c:pt>
                <c:pt idx="3">
                  <c:v>France</c:v>
                </c:pt>
                <c:pt idx="4">
                  <c:v>Germany</c:v>
                </c:pt>
                <c:pt idx="5">
                  <c:v>Czech Republic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1040.49</c:v>
                </c:pt>
                <c:pt idx="1">
                  <c:v>535.59</c:v>
                </c:pt>
                <c:pt idx="2">
                  <c:v>427.68</c:v>
                </c:pt>
                <c:pt idx="3">
                  <c:v>389.07</c:v>
                </c:pt>
                <c:pt idx="4">
                  <c:v>334.62</c:v>
                </c:pt>
                <c:pt idx="5">
                  <c:v>273.24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83-4C0A-A9BA-1F94E8FDD0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Calibri"/>
              </a:rPr>
              <a:t>Average orders per customer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orders</c:v>
                </c:pt>
              </c:strCache>
            </c:strRef>
          </c:tx>
          <c:spPr>
            <a:solidFill>
              <a:srgbClr val="1B1F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Long-term customers</c:v>
                </c:pt>
                <c:pt idx="1">
                  <c:v>Newer customers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10.9</c:v>
                </c:pt>
                <c:pt idx="1">
                  <c:v>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29-4B40-A55F-C772A7A719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Calibri"/>
              </a:rPr>
              <a:t>Average total spend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spend ($)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\$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Long-term customers</c:v>
                </c:pt>
                <c:pt idx="1">
                  <c:v>Newer customers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84.64</c:v>
                </c:pt>
                <c:pt idx="1">
                  <c:v>74.83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DE-4978-ABB0-EAA83DBD1D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\$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A7C-41DD-B03B-B2879FF92BC8}"/>
              </c:ext>
            </c:extLst>
          </c:dPt>
          <c:dPt>
            <c:idx val="1"/>
            <c:invertIfNegative val="0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A7C-41DD-B03B-B2879FF92BC8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A7C-41DD-B03B-B2879FF92BC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risk (&lt;45 days)</c:v>
                </c:pt>
                <c:pt idx="1">
                  <c:v>Medium risk (45-90 days)</c:v>
                </c:pt>
                <c:pt idx="2">
                  <c:v>High risk (90+ days)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</c:v>
                </c:pt>
                <c:pt idx="1">
                  <c:v>14</c:v>
                </c:pt>
                <c:pt idx="2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A7C-41DD-B03B-B2879FF92B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annual value ($)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\$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František Wichterlová</c:v>
                </c:pt>
                <c:pt idx="1">
                  <c:v>Helena Holý</c:v>
                </c:pt>
                <c:pt idx="2">
                  <c:v>Manoj Pareek</c:v>
                </c:pt>
                <c:pt idx="3">
                  <c:v>Jack Smith</c:v>
                </c:pt>
                <c:pt idx="4">
                  <c:v>Luís Gonçalves</c:v>
                </c:pt>
                <c:pt idx="5">
                  <c:v>François Tremblay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41.77</c:v>
                </c:pt>
                <c:pt idx="1">
                  <c:v>40.880000000000003</c:v>
                </c:pt>
                <c:pt idx="2">
                  <c:v>32.93</c:v>
                </c:pt>
                <c:pt idx="3">
                  <c:v>31.22</c:v>
                </c:pt>
                <c:pt idx="4">
                  <c:v>31.18</c:v>
                </c:pt>
                <c:pt idx="5">
                  <c:v>30.93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93-4CC8-88E9-17DC00B611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\$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Times bought in the same order</c:v>
                </c:pt>
              </c:strCache>
            </c:strRef>
          </c:tx>
          <c:spPr>
            <a:solidFill>
              <a:srgbClr val="1B1F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Rock + Metal</c:v>
                </c:pt>
                <c:pt idx="1">
                  <c:v>Rock + Alternative &amp; Punk</c:v>
                </c:pt>
                <c:pt idx="2">
                  <c:v>Rock + Alternative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620</c:v>
                </c:pt>
                <c:pt idx="1">
                  <c:v>418</c:v>
                </c:pt>
                <c:pt idx="2">
                  <c:v>309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10-4E09-9B55-B58499A890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Germany</c:v>
                </c:pt>
                <c:pt idx="1">
                  <c:v>Brazil</c:v>
                </c:pt>
                <c:pt idx="2">
                  <c:v>India</c:v>
                </c:pt>
                <c:pt idx="3">
                  <c:v>France</c:v>
                </c:pt>
                <c:pt idx="4">
                  <c:v>United Kingdom</c:v>
                </c:pt>
                <c:pt idx="5">
                  <c:v>USA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</c:v>
                </c:pt>
                <c:pt idx="1">
                  <c:v>60</c:v>
                </c:pt>
                <c:pt idx="2">
                  <c:v>50</c:v>
                </c:pt>
                <c:pt idx="3">
                  <c:v>40</c:v>
                </c:pt>
                <c:pt idx="4">
                  <c:v>33</c:v>
                </c:pt>
                <c:pt idx="5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2E-4643-BC6D-15ECD56E2B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388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12152B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215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CHINOOK MUSIC STORE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Customer Analytics — Findings and Recommendations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86968" y="3977640"/>
            <a:ext cx="128016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160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Spoorthi H R | 30-09-2026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214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Chinook needs this analysis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172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scope, and data quality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Visualizations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224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customers, genres, churn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983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276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means for the business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Music Store — Sales &amp; Customer Analytics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9456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Data Analyst at Chinook, the objective is to analyze music record sales data to uncover actionable insights and recommend a data-backed strategy for the company's performance in the physical &amp; digital music market.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3502152" cy="1371600"/>
          </a:xfrm>
          <a:prstGeom prst="roundRect">
            <a:avLst>
              <a:gd name="adj" fmla="val 5333"/>
            </a:avLst>
          </a:prstGeom>
          <a:solidFill>
            <a:srgbClr val="1B1F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572000"/>
            <a:ext cx="3136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our customers and where are they?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4572000"/>
            <a:ext cx="3502152" cy="1371600"/>
          </a:xfrm>
          <a:prstGeom prst="roundRect">
            <a:avLst>
              <a:gd name="adj" fmla="val 5333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4572000"/>
            <a:ext cx="3136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sells, and where should we invest next?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4572000"/>
            <a:ext cx="3502152" cy="1371600"/>
          </a:xfrm>
          <a:prstGeom prst="roundRect">
            <a:avLst>
              <a:gd name="adj" fmla="val 5333"/>
            </a:avLst>
          </a:prstGeom>
          <a:solidFill>
            <a:srgbClr val="1B1F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0" y="4572000"/>
            <a:ext cx="3136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at risk of churning — and why?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Music Store — Sales &amp; Customer Analytics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E1E5F0"/>
            </a:solidFill>
            <a:prstDash val="solid"/>
          </a:ln>
          <a:effectLst>
            <a:outerShdw blurRad="76200" dist="25400" dir="5400000" algn="bl" rotWithShape="0">
              <a:srgbClr val="8C93AD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212848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803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023360" y="210312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E1E5F0"/>
            </a:solidFill>
            <a:prstDash val="solid"/>
          </a:ln>
          <a:effectLst>
            <a:outerShdw blurRad="76200" dist="25400" dir="5400000" algn="bl" rotWithShape="0">
              <a:srgbClr val="8C93AD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160520" y="2212848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8803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223760" y="210312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E1E5F0"/>
            </a:solidFill>
            <a:prstDash val="solid"/>
          </a:ln>
          <a:effectLst>
            <a:outerShdw blurRad="76200" dist="25400" dir="5400000" algn="bl" rotWithShape="0">
              <a:srgbClr val="8C93AD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60920" y="2212848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3,503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8803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56616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E1E5F0"/>
            </a:solidFill>
            <a:prstDash val="solid"/>
          </a:ln>
          <a:effectLst>
            <a:outerShdw blurRad="76200" dist="25400" dir="5400000" algn="bl" rotWithShape="0">
              <a:srgbClr val="8C93AD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60120" y="3675888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43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23360" y="356616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E1E5F0"/>
            </a:solidFill>
            <a:prstDash val="solid"/>
          </a:ln>
          <a:effectLst>
            <a:outerShdw blurRad="76200" dist="25400" dir="5400000" algn="bl" rotWithShape="0">
              <a:srgbClr val="8C93AD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160520" y="3675888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343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23760" y="356616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E1E5F0"/>
            </a:solidFill>
            <a:prstDash val="solid"/>
          </a:ln>
          <a:effectLst>
            <a:outerShdw blurRad="76200" dist="25400" dir="5400000" algn="bl" rotWithShape="0">
              <a:srgbClr val="8C93AD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360920" y="3675888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4343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2120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relational tables covering customers, invoices, tracks, albums, artists and genres — spanning 24 countries.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Music Store — Sales &amp; Customer Analytics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3000" dirty="0"/>
          </a:p>
        </p:txBody>
      </p:sp>
      <p:pic>
        <p:nvPicPr>
          <p:cNvPr id="4" name="Image 0" descr="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417320"/>
            <a:ext cx="5074920" cy="4956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Music Store — Sales &amp; Customer Analytics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— DATA 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Quality: No Duplicates, Expected NULLs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5448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589520" y="192024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primary keys found across the dataset.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are optional fields (company, fax, state, postal code) — not data defects.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as NULL rather than imputed, to avoid misrepresenting the data.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Music Store — Sales &amp; Customer Analytics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— PRODUCT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Top-Selling Tracks in the USA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00200"/>
          <a:ext cx="73152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0" y="201168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"War Pigs" by Cake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USA revenue among individual tracks.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60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and Alternative-leaning tracks dominate the top 5 — consistent with genre-level trends.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Music Store — Sales &amp; Customer Analytics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— GENRE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 Dominates USA Sales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56692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60020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1B1F3B"/>
          </a:solidFill>
          <a:ln w="12700">
            <a:solidFill>
              <a:srgbClr val="E1E5F0"/>
            </a:solidFill>
            <a:prstDash val="solid"/>
          </a:ln>
          <a:effectLst>
            <a:outerShdw blurRad="76200" dist="25400" dir="5400000" algn="bl" rotWithShape="0">
              <a:srgbClr val="8C93AD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720840" y="1709928"/>
            <a:ext cx="47548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53.4%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23774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USA revenue comes from Rock alone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306324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Rock, Alternative &amp; Punk and Metal together = ~78% of USA revenue.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same pattern holds in 22 of 23 non-USA countries — Rock leads almost everywhere.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prioritize Rock / Alt-Punk / Metal titles for promotion and new-label advertising spend.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Music Store — Sales &amp; Customer Analytics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— CUSTOMER GEOGRAPHY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Our Customers &amp; Revenue Come From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64592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172200" y="164592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Music Store — Sales &amp; Customer Analytics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— PURCHASE BEHAVIOR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Customers Buy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E1E5F0"/>
            </a:solidFill>
            <a:prstDash val="solid"/>
          </a:ln>
          <a:effectLst>
            <a:outerShdw blurRad="76200" dist="25400" dir="5400000" algn="bl" rotWithShape="0">
              <a:srgbClr val="8C93AD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212848"/>
            <a:ext cx="32004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$7.67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210312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E1E5F0"/>
            </a:solidFill>
            <a:prstDash val="solid"/>
          </a:ln>
          <a:effectLst>
            <a:outerShdw blurRad="76200" dist="25400" dir="5400000" algn="bl" rotWithShape="0">
              <a:srgbClr val="8C93AD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80560" y="2212848"/>
            <a:ext cx="32004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10.41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4023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invoices per customer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E1E5F0"/>
            </a:solidFill>
            <a:prstDash val="solid"/>
          </a:ln>
          <a:effectLst>
            <a:outerShdw blurRad="76200" dist="25400" dir="5400000" algn="bl" rotWithShape="0">
              <a:srgbClr val="8C93AD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83880" y="2212848"/>
            <a:ext cx="32004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7.75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4023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tracks per invoice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8463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in the dataset has purchased across 3 or more distinct genres — engagement is broad, not narrow.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Music Store — Sales &amp; Customer Analytics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— RETENTION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&amp; Churn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12152B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37.3%</a:t>
            </a:r>
            <a:endParaRPr lang="en-US" sz="6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9319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purchase in 3+ months)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12152B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63640" y="210312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/ 59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39319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have not purchased in the last 3 months and need re-engagement outreach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Music Store — Sales &amp; Customer Analytics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— CUSTOMER LOYALTY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Tenure Drives Volume, Not Basket Size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45920"/>
          <a:ext cx="52120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309360" y="1645920"/>
          <a:ext cx="52120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 stays flat between the two groups (~$7.70) — loyalty programs should target purchase frequency, not basket size.</a:t>
            </a:r>
            <a:endParaRPr lang="en-US" sz="12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Music Store — Sales &amp; Customer Analytics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— RISK PROFILING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 Customers Is High-Risk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45920"/>
          <a:ext cx="67665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80960" y="201168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age/gender data exists, so risk is scored on purchase recency instead — days since a customer's last order.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beats spend as a signal: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High-risk customers have solid historical spend but have gone quiet — a spend-only view would miss them.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Music Store — Sales &amp; Customer Analytics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— LIFETIME VALUE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Annual Value: Top Customers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4592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20116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proxy = (total spend / tenure days) × 365 — a run-rate projection, since there's no subscription structure to model.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churned customers for a pre-drop-off pattern: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 — most simply stop without a gradual decline, favoring a time-based re-engagement trigger over behavior-based detection.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Music Store — Sales &amp; Customer Analytics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— CROSS-SELL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Rock, Metal &amp; Alt-Punk Sell Together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45920"/>
          <a:ext cx="67665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80960" y="201168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pairs bought in the same invoice cluster tightly around Rock.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"customers who bought this also bought" prompts and bundle promotions around the Rock / Metal / Alt-Punk cluster.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Music Store — Sales &amp; Customer Analytics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— REGIONAL RISK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Varies Sharply by Country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4592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20116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markets (Germany, Brazil) show much higher churn than the USA/UK.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small samples (2-5 customers) — a couple of inactive customers swings the % a lot. Treat as a watch-list, not a confirmed trend.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Music Store — Sales &amp; Customer Analytics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Chinook Should Do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6420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Rock / Alt-Punk / Metal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new-label advertising — these 3 genres drive ~78% of USA revenue.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60-day inactivity trigger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email/offer once a customer passes 60 days of silence — 37% churn shows re-engagement can't wait.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76732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cross-genre promotions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the Rock–Metal–Alt-Punk cluster, the strongest co-purchase pattern in the data.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81888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frequency-based loyalty perks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spend-based) — order value is flat across tenure, frequency is what grows.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Music Store — Sales &amp; Customer Analytics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12152B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215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Spoorthi  H R </a:t>
            </a:r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984</Words>
  <Application>Microsoft Office PowerPoint</Application>
  <PresentationFormat>Widescreen</PresentationFormat>
  <Paragraphs>173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Spoorthi H R</cp:lastModifiedBy>
  <cp:revision>2</cp:revision>
  <dcterms:created xsi:type="dcterms:W3CDTF">2026-09-29T22:09:01Z</dcterms:created>
  <dcterms:modified xsi:type="dcterms:W3CDTF">2026-09-30T07:57:11Z</dcterms:modified>
</cp:coreProperties>
</file>